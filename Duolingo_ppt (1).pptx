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81" r:id="rId8"/>
    <p:sldId id="261" r:id="rId9"/>
    <p:sldId id="262" r:id="rId10"/>
    <p:sldId id="280" r:id="rId11"/>
    <p:sldId id="263" r:id="rId12"/>
    <p:sldId id="268" r:id="rId13"/>
    <p:sldId id="269" r:id="rId14"/>
    <p:sldId id="264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  <p:sldId id="265" r:id="rId24"/>
    <p:sldId id="266" r:id="rId25"/>
    <p:sldId id="283" r:id="rId26"/>
    <p:sldId id="267" r:id="rId27"/>
    <p:sldId id="282" r:id="rId28"/>
    <p:sldId id="279" r:id="rId29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948623"/>
            <a:ext cx="250952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339"/>
                </a:lnTo>
                <a:lnTo>
                  <a:pt x="5759996" y="376339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6283" y="760470"/>
            <a:ext cx="4911725" cy="183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47294" y="948623"/>
            <a:ext cx="2509520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22373A"/>
                </a:solidFill>
                <a:latin typeface="Times New Roman" panose="02020603050405020304"/>
              </a:rPr>
              <a:t>Duolingo</a:t>
            </a:r>
            <a:r>
              <a:rPr sz="1400" spc="90" dirty="0">
                <a:solidFill>
                  <a:srgbClr val="22373A"/>
                </a:solidFill>
                <a:latin typeface="Times New Roman" panose="02020603050405020304"/>
              </a:rPr>
              <a:t> </a:t>
            </a:r>
            <a:r>
              <a:rPr sz="1400" dirty="0">
                <a:solidFill>
                  <a:srgbClr val="22373A"/>
                </a:solidFill>
                <a:latin typeface="Times New Roman" panose="02020603050405020304"/>
              </a:rPr>
              <a:t>Mock</a:t>
            </a:r>
            <a:r>
              <a:rPr sz="1400" spc="90" dirty="0">
                <a:solidFill>
                  <a:srgbClr val="22373A"/>
                </a:solidFill>
                <a:latin typeface="Times New Roman" panose="02020603050405020304"/>
              </a:rPr>
              <a:t> </a:t>
            </a:r>
            <a:r>
              <a:rPr sz="1400" dirty="0">
                <a:solidFill>
                  <a:srgbClr val="22373A"/>
                </a:solidFill>
                <a:latin typeface="Times New Roman" panose="02020603050405020304"/>
              </a:rPr>
              <a:t>Test</a:t>
            </a:r>
            <a:r>
              <a:rPr sz="1400" spc="90" dirty="0">
                <a:solidFill>
                  <a:srgbClr val="22373A"/>
                </a:solidFill>
                <a:latin typeface="Times New Roman" panose="02020603050405020304"/>
              </a:rPr>
              <a:t> </a:t>
            </a:r>
            <a:r>
              <a:rPr sz="1400" spc="-20" dirty="0">
                <a:solidFill>
                  <a:srgbClr val="22373A"/>
                </a:solidFill>
                <a:latin typeface="Times New Roman" panose="02020603050405020304"/>
              </a:rPr>
              <a:t>System</a:t>
            </a:r>
            <a:endParaRPr sz="1400">
              <a:latin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287345"/>
            <a:ext cx="3329304" cy="19684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AI-</a:t>
            </a:r>
            <a:r>
              <a:rPr sz="1200" spc="-9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Powered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Platform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English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Preparation</a:t>
            </a:r>
            <a:endParaRPr sz="1200">
              <a:latin typeface="Times New Roman" panose="02020603050405020304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719014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0892" y="2012447"/>
            <a:ext cx="2157645" cy="39306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en-US"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Donakonda. Poleswari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(N190</a:t>
            </a:r>
            <a:r>
              <a:rPr lang="en-US" altLang="en-US"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028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)</a:t>
            </a:r>
            <a:endParaRPr lang="en-US" sz="1200" spc="-10">
              <a:solidFill>
                <a:srgbClr val="22373A"/>
              </a:solidFill>
              <a:latin typeface="Times New Roman" panose="02020603050405020304"/>
              <a:cs typeface="Arial MT"/>
            </a:endParaRPr>
          </a:p>
          <a:p>
            <a:pPr marL="12700">
              <a:spcBef>
                <a:spcPts val="95"/>
              </a:spcBef>
            </a:pPr>
            <a:endParaRPr lang="en-US" sz="12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48789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Times New Roman" panose="02020603050405020304" charset="0"/>
                <a:cs typeface="Times New Roman" panose="02020603050405020304" charset="0"/>
              </a:rPr>
              <a:t>Table</a:t>
            </a:r>
            <a:r>
              <a:rPr sz="1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14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45" dirty="0"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sz="1400" spc="-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960119" cy="5080"/>
            </a:xfrm>
            <a:custGeom>
              <a:avLst/>
              <a:gdLst/>
              <a:ahLst/>
              <a:cxnLst/>
              <a:rect l="l" t="t" r="r" b="b"/>
              <a:pathLst>
                <a:path w="960119" h="5079">
                  <a:moveTo>
                    <a:pt x="0" y="5060"/>
                  </a:moveTo>
                  <a:lnTo>
                    <a:pt x="0" y="0"/>
                  </a:lnTo>
                  <a:lnTo>
                    <a:pt x="960041" y="0"/>
                  </a:lnTo>
                  <a:lnTo>
                    <a:pt x="9600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67601" y="378651"/>
            <a:ext cx="1957513" cy="287091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41300" marR="785495" indent="-228600">
              <a:lnSpc>
                <a:spcPct val="149000"/>
              </a:lnSpc>
              <a:spcBef>
                <a:spcPts val="100"/>
              </a:spcBef>
              <a:buAutoNum type="arabicPeriod"/>
            </a:pPr>
            <a:r>
              <a:rPr lang="en-US"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Abstract</a:t>
            </a:r>
            <a:endParaRPr lang="en-US" sz="1200" spc="-10" dirty="0">
              <a:solidFill>
                <a:srgbClr val="22373A"/>
              </a:solidFill>
              <a:latin typeface="Times New Roman" panose="02020603050405020304"/>
              <a:cs typeface="Arial MT"/>
            </a:endParaRPr>
          </a:p>
          <a:p>
            <a:pPr marL="241300" marR="785495" indent="-228600">
              <a:lnSpc>
                <a:spcPct val="149000"/>
              </a:lnSpc>
              <a:spcBef>
                <a:spcPts val="100"/>
              </a:spcBef>
              <a:buAutoNum type="arabicPeriod"/>
            </a:pP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Introduction</a:t>
            </a:r>
            <a:endParaRPr sz="1200">
              <a:latin typeface="Times New Roman" panose="02020603050405020304"/>
              <a:cs typeface="Arial MT"/>
            </a:endParaRPr>
          </a:p>
          <a:p>
            <a:pPr marL="241300" indent="-228600">
              <a:spcBef>
                <a:spcPts val="650"/>
              </a:spcBef>
              <a:buAutoNum type="arabicPeriod"/>
            </a:pPr>
            <a:r>
              <a:rPr lang="en-US"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Related/Existing</a:t>
            </a:r>
            <a:r>
              <a:rPr lang="en-US" sz="1200" spc="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lang="en-US"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Works</a:t>
            </a:r>
            <a:endParaRPr lang="en-US" sz="1200">
              <a:solidFill>
                <a:srgbClr val="000000"/>
              </a:solidFill>
              <a:latin typeface="Times New Roman" panose="02020603050405020304"/>
              <a:cs typeface="Arial MT"/>
            </a:endParaRPr>
          </a:p>
          <a:p>
            <a:pPr marL="241300" marR="5080" indent="-228600">
              <a:lnSpc>
                <a:spcPct val="149000"/>
              </a:lnSpc>
              <a:spcBef>
                <a:spcPts val="155"/>
              </a:spcBef>
              <a:buAutoNum type="arabicPeriod"/>
            </a:pPr>
            <a:r>
              <a:rPr lang="en-US" sz="1200" spc="-7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lang="en-US" sz="1200" spc="6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Method</a:t>
            </a:r>
            <a:endParaRPr lang="en-US" sz="1200" spc="-10" dirty="0">
              <a:solidFill>
                <a:srgbClr val="22373A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ct val="149000"/>
              </a:lnSpc>
              <a:spcBef>
                <a:spcPts val="155"/>
              </a:spcBef>
              <a:buAutoNum type="arabicPeriod"/>
            </a:pPr>
            <a:r>
              <a:rPr lang="en-US" sz="1200" spc="-5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lang="en-US"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Details</a:t>
            </a:r>
            <a:endParaRPr lang="en-US" sz="120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ct val="149000"/>
              </a:lnSpc>
              <a:spcBef>
                <a:spcPts val="155"/>
              </a:spcBef>
              <a:buAutoNum type="arabicPeriod"/>
            </a:pPr>
            <a:r>
              <a:rPr lang="en-US" sz="1200" spc="-3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Workflow</a:t>
            </a:r>
            <a:r>
              <a:rPr lang="en-US" sz="1200" spc="3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spc="8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z="1200" spc="3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spc="-9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Pseudo code</a:t>
            </a:r>
            <a:endParaRPr lang="en-US" sz="120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ct val="149000"/>
              </a:lnSpc>
              <a:spcBef>
                <a:spcPts val="155"/>
              </a:spcBef>
              <a:buAutoNum type="arabicPeriod"/>
            </a:pPr>
            <a:r>
              <a:rPr lang="en-US"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Initial</a:t>
            </a:r>
            <a:r>
              <a:rPr lang="en-US" sz="1200" spc="-3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Results</a:t>
            </a:r>
            <a:endParaRPr lang="en-US" sz="120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41300" marR="763905" indent="-228600">
              <a:lnSpc>
                <a:spcPct val="149000"/>
              </a:lnSpc>
              <a:buAutoNum type="arabicPeriod"/>
            </a:pPr>
            <a:r>
              <a:rPr lang="en-US"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Conclusion</a:t>
            </a:r>
            <a:endParaRPr lang="en-US" sz="1200">
              <a:latin typeface="Times New Roman" panose="02020603050405020304"/>
              <a:cs typeface="Times New Roman" panose="02020603050405020304"/>
            </a:endParaRPr>
          </a:p>
          <a:p>
            <a:pPr marL="241300" marR="763905" indent="-228600">
              <a:lnSpc>
                <a:spcPct val="149000"/>
              </a:lnSpc>
              <a:buAutoNum type="arabicPeriod"/>
            </a:pPr>
            <a:r>
              <a:rPr lang="en-US" sz="1200" spc="-3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lang="en-US" sz="1200" spc="-3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spc="-5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Work</a:t>
            </a:r>
            <a:endParaRPr lang="en-US" sz="120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ct val="149000"/>
              </a:lnSpc>
              <a:spcBef>
                <a:spcPts val="155"/>
              </a:spcBef>
              <a:buAutoNum type="arabicPeriod"/>
            </a:pPr>
            <a:r>
              <a:rPr lang="en-US"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References</a:t>
            </a:r>
            <a:endParaRPr lang="en-US" sz="1200">
              <a:solidFill>
                <a:srgbClr val="000000"/>
              </a:solidFill>
              <a:latin typeface="Times New Roman" panose="02020603050405020304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48789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40" dirty="0">
                <a:latin typeface="Times New Roman" panose="02020603050405020304" charset="0"/>
                <a:cs typeface="Times New Roman" panose="02020603050405020304" charset="0"/>
              </a:rPr>
              <a:t>Abstract</a:t>
            </a:r>
            <a:endParaRPr sz="1400" spc="-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1440180" cy="5080"/>
            </a:xfrm>
            <a:custGeom>
              <a:avLst/>
              <a:gdLst/>
              <a:ahLst/>
              <a:cxnLst/>
              <a:rect l="l" t="t" r="r" b="b"/>
              <a:pathLst>
                <a:path w="1440180" h="5079">
                  <a:moveTo>
                    <a:pt x="0" y="5060"/>
                  </a:moveTo>
                  <a:lnTo>
                    <a:pt x="0" y="0"/>
                  </a:lnTo>
                  <a:lnTo>
                    <a:pt x="1440018" y="0"/>
                  </a:lnTo>
                  <a:lnTo>
                    <a:pt x="144001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86283" y="741918"/>
            <a:ext cx="4823460" cy="211545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47955" marR="5080" indent="-135890" algn="just">
              <a:lnSpc>
                <a:spcPct val="118000"/>
              </a:lnSpc>
              <a:spcBef>
                <a:spcPts val="100"/>
              </a:spcBef>
              <a:buFont typeface="Arial MT"/>
              <a:buChar char="•"/>
              <a:tabLst>
                <a:tab pos="150495" algn="l"/>
              </a:tabLst>
            </a:pPr>
            <a:r>
              <a:rPr sz="1200" b="1" spc="-2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Problem</a:t>
            </a:r>
            <a:r>
              <a:rPr sz="1200" b="1" spc="2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Statement:</a:t>
            </a:r>
            <a:r>
              <a:rPr sz="1200" b="1" spc="8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Many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test-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takers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struggle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to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perform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well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in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the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Duolingo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English</a:t>
            </a:r>
            <a:r>
              <a:rPr sz="1200" spc="-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due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to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limited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practice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mechanisms.</a:t>
            </a:r>
            <a:endParaRPr sz="1200">
              <a:latin typeface="Times New Roman" panose="02020603050405020304"/>
              <a:cs typeface="Arial MT"/>
            </a:endParaRPr>
          </a:p>
          <a:p>
            <a:pPr marL="147955" marR="617855" indent="-135890" algn="just">
              <a:lnSpc>
                <a:spcPct val="118000"/>
              </a:lnSpc>
              <a:spcBef>
                <a:spcPts val="300"/>
              </a:spcBef>
              <a:buFont typeface="Arial MT"/>
              <a:buChar char="•"/>
              <a:tabLst>
                <a:tab pos="150495" algn="l"/>
              </a:tabLst>
            </a:pPr>
            <a:r>
              <a:rPr sz="1200" b="1" spc="-2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Objective:</a:t>
            </a:r>
            <a:r>
              <a:rPr sz="1200" b="1" spc="10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Develop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AI-based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system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to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simulate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the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Duolingo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 	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environment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offer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intelligent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Features:</a:t>
            </a:r>
            <a:endParaRPr sz="1200">
              <a:latin typeface="Times New Roman" panose="02020603050405020304"/>
              <a:cs typeface="Arial" panose="020B06040202020202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355"/>
              </a:spcBef>
              <a:buChar char="•"/>
              <a:tabLst>
                <a:tab pos="425450" algn="l"/>
              </a:tabLst>
            </a:pP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Timed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practice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reading,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writing,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listening,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speaking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sections.</a:t>
            </a:r>
            <a:endParaRPr sz="1200">
              <a:latin typeface="Times New Roman" panose="02020603050405020304"/>
              <a:cs typeface="Arial MT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AI-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generated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questions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with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instant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scoring.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5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Technologies</a:t>
            </a:r>
            <a:r>
              <a:rPr sz="1200" b="1" spc="-2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b="1" spc="-3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Used:</a:t>
            </a:r>
            <a:r>
              <a:rPr sz="1200" b="1" spc="8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Flask,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Python,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React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Js,</a:t>
            </a:r>
            <a:r>
              <a:rPr sz="1200" spc="-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Azure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Speech</a:t>
            </a:r>
            <a:r>
              <a:rPr sz="1200" spc="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Services,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OpenAI.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2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Outcome:</a:t>
            </a:r>
            <a:r>
              <a:rPr sz="1200" b="1" spc="10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comprehensive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system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that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boosts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user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confidence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readiness.</a:t>
            </a:r>
            <a:endParaRPr sz="1200">
              <a:latin typeface="Times New Roman" panose="02020603050405020304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48789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65" dirty="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sz="1400" spc="-6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1920239" cy="5080"/>
            </a:xfrm>
            <a:custGeom>
              <a:avLst/>
              <a:gdLst/>
              <a:ahLst/>
              <a:cxnLst/>
              <a:rect l="l" t="t" r="r" b="b"/>
              <a:pathLst>
                <a:path w="1920239" h="5079">
                  <a:moveTo>
                    <a:pt x="0" y="5060"/>
                  </a:moveTo>
                  <a:lnTo>
                    <a:pt x="0" y="0"/>
                  </a:lnTo>
                  <a:lnTo>
                    <a:pt x="1919995" y="0"/>
                  </a:lnTo>
                  <a:lnTo>
                    <a:pt x="1919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86283" y="1134399"/>
            <a:ext cx="4879975" cy="119494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47955" marR="5080" indent="-135890" algn="just">
              <a:lnSpc>
                <a:spcPct val="118000"/>
              </a:lnSpc>
              <a:spcBef>
                <a:spcPts val="100"/>
              </a:spcBef>
              <a:buChar char="•"/>
              <a:tabLst>
                <a:tab pos="150495" algn="l"/>
              </a:tabLst>
            </a:pP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Duolingo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English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is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widely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accepted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but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often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challenging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due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to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its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adaptive 	nature.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148590" algn="l"/>
              </a:tabLst>
            </a:pP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Test-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takers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lack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structured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mock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platforms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with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smart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148590" algn="l"/>
              </a:tabLst>
            </a:pP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Our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system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mimics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real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scenarios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adapts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dynamically.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148590" algn="l"/>
              </a:tabLst>
            </a:pPr>
            <a:r>
              <a:rPr sz="1200" spc="-9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Focused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on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improving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user’s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proficiency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strategies.</a:t>
            </a:r>
            <a:endParaRPr sz="1200">
              <a:latin typeface="Times New Roman" panose="02020603050405020304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10055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latin typeface="Times New Roman" panose="02020603050405020304" charset="0"/>
                <a:cs typeface="Times New Roman" panose="02020603050405020304" charset="0"/>
              </a:rPr>
              <a:t>Related/Existing</a:t>
            </a:r>
            <a:r>
              <a:rPr sz="1400" spc="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65" dirty="0">
                <a:latin typeface="Times New Roman" panose="02020603050405020304" charset="0"/>
                <a:cs typeface="Times New Roman" panose="02020603050405020304" charset="0"/>
              </a:rPr>
              <a:t>Works</a:t>
            </a:r>
            <a:endParaRPr sz="1400" spc="-6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2400300" cy="5080"/>
            </a:xfrm>
            <a:custGeom>
              <a:avLst/>
              <a:gdLst/>
              <a:ahLst/>
              <a:cxnLst/>
              <a:rect l="l" t="t" r="r" b="b"/>
              <a:pathLst>
                <a:path w="2400300" h="5079">
                  <a:moveTo>
                    <a:pt x="0" y="5060"/>
                  </a:moveTo>
                  <a:lnTo>
                    <a:pt x="0" y="0"/>
                  </a:lnTo>
                  <a:lnTo>
                    <a:pt x="2400060" y="0"/>
                  </a:lnTo>
                  <a:lnTo>
                    <a:pt x="2400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86283" y="760470"/>
            <a:ext cx="4911725" cy="2233752"/>
          </a:xfrm>
          <a:prstGeom prst="rect">
            <a:avLst/>
          </a:prstGeom>
        </p:spPr>
        <p:txBody>
          <a:bodyPr vert="horz" wrap="square" lIns="0" tIns="61594" rIns="0" bIns="0" rtlCol="0" anchor="t">
            <a:spAutoFit/>
          </a:bodyPr>
          <a:lstStyle/>
          <a:p>
            <a:pPr marL="148590" indent="-135890" algn="just">
              <a:lnSpc>
                <a:spcPct val="100000"/>
              </a:lnSpc>
              <a:spcBef>
                <a:spcPts val="48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40" dirty="0">
                <a:latin typeface="Times New Roman" panose="02020603050405020304"/>
                <a:cs typeface="Arial" panose="020B0604020202020204"/>
              </a:rPr>
              <a:t>Existing</a:t>
            </a:r>
            <a:r>
              <a:rPr sz="1200" b="1" spc="30" dirty="0">
                <a:latin typeface="Times New Roman" panose="02020603050405020304"/>
                <a:cs typeface="Arial" panose="020B0604020202020204"/>
              </a:rPr>
              <a:t> </a:t>
            </a:r>
            <a:r>
              <a:rPr sz="1200" b="1" spc="-10" dirty="0">
                <a:latin typeface="Times New Roman" panose="02020603050405020304"/>
                <a:cs typeface="Arial" panose="020B0604020202020204"/>
              </a:rPr>
              <a:t>Tools:</a:t>
            </a:r>
            <a:endParaRPr lang="en-US" sz="1200" b="1" spc="-10">
              <a:latin typeface="Times New Roman" panose="02020603050405020304"/>
              <a:cs typeface="Arial" panose="020B06040202020202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350"/>
              </a:spcBef>
              <a:buChar char="•"/>
              <a:tabLst>
                <a:tab pos="425450" algn="l"/>
              </a:tabLst>
            </a:pP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Duolingo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Practice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App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(offers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basic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preparation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features).</a:t>
            </a:r>
            <a:endParaRPr sz="1200">
              <a:latin typeface="Times New Roman" panose="02020603050405020304"/>
              <a:cs typeface="Arial MT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YouTube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practice</a:t>
            </a:r>
            <a:r>
              <a:rPr sz="1200" spc="-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videos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(lack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interactivity</a:t>
            </a:r>
            <a:r>
              <a:rPr sz="1200" spc="-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real-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time</a:t>
            </a:r>
            <a:r>
              <a:rPr sz="1200" spc="-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feedback).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10" dirty="0">
                <a:latin typeface="Times New Roman" panose="02020603050405020304"/>
                <a:cs typeface="Arial" panose="020B0604020202020204"/>
              </a:rPr>
              <a:t>Limitations:</a:t>
            </a:r>
            <a:endParaRPr sz="1200" b="1" spc="-10" dirty="0">
              <a:latin typeface="Times New Roman" panose="02020603050405020304"/>
              <a:cs typeface="Arial" panose="020B06040202020202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355"/>
              </a:spcBef>
              <a:buChar char="•"/>
              <a:tabLst>
                <a:tab pos="425450" algn="l"/>
              </a:tabLst>
            </a:pP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Lack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of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adaptive,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test-like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simulation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with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scoring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logic.</a:t>
            </a:r>
            <a:endParaRPr sz="1200">
              <a:latin typeface="Times New Roman" panose="02020603050405020304"/>
              <a:cs typeface="Arial MT"/>
            </a:endParaRPr>
          </a:p>
          <a:p>
            <a:pPr marL="425450" lvl="1" indent="-130810" algn="just"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lang="en-US"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No </a:t>
            </a:r>
            <a:r>
              <a:rPr lang="en-US"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personalized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evaluation,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real-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time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analytics,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or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structured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progress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tracking.</a:t>
            </a:r>
            <a:endParaRPr sz="1200">
              <a:latin typeface="Times New Roman" panose="02020603050405020304"/>
              <a:cs typeface="Arial MT"/>
            </a:endParaRPr>
          </a:p>
          <a:p>
            <a:pPr marL="147955" marR="5080" indent="-135890" algn="just">
              <a:lnSpc>
                <a:spcPct val="118000"/>
              </a:lnSpc>
              <a:spcBef>
                <a:spcPts val="320"/>
              </a:spcBef>
              <a:buFont typeface="Arial MT"/>
              <a:buChar char="•"/>
              <a:tabLst>
                <a:tab pos="150495" algn="l"/>
              </a:tabLst>
            </a:pPr>
            <a:r>
              <a:rPr sz="1200" b="1" spc="-30" dirty="0">
                <a:latin typeface="Times New Roman" panose="02020603050405020304"/>
                <a:cs typeface="Arial" panose="020B0604020202020204"/>
              </a:rPr>
              <a:t>Advancement:</a:t>
            </a:r>
            <a:r>
              <a:rPr sz="1200" b="1" spc="15" dirty="0">
                <a:latin typeface="Times New Roman" panose="02020603050405020304"/>
                <a:cs typeface="Arial" panose="020B0604020202020204"/>
              </a:rPr>
              <a:t> </a:t>
            </a:r>
            <a:r>
              <a:rPr sz="1200" dirty="0">
                <a:latin typeface="Times New Roman" panose="02020603050405020304"/>
              </a:rPr>
              <a:t>Our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spc="-70" dirty="0">
                <a:latin typeface="Times New Roman" panose="02020603050405020304"/>
              </a:rPr>
              <a:t>system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70" dirty="0">
                <a:latin typeface="Times New Roman" panose="02020603050405020304"/>
              </a:rPr>
              <a:t>bridges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70" dirty="0">
                <a:latin typeface="Times New Roman" panose="02020603050405020304"/>
              </a:rPr>
              <a:t>these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85" dirty="0">
                <a:latin typeface="Times New Roman" panose="02020603050405020304"/>
              </a:rPr>
              <a:t>gaps</a:t>
            </a:r>
            <a:r>
              <a:rPr sz="1200" spc="10" dirty="0">
                <a:latin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</a:rPr>
              <a:t>by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spc="-30" dirty="0">
                <a:latin typeface="Times New Roman" panose="02020603050405020304"/>
              </a:rPr>
              <a:t>offering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spc="-45" dirty="0">
                <a:latin typeface="Times New Roman" panose="02020603050405020304"/>
              </a:rPr>
              <a:t>AI-</a:t>
            </a:r>
            <a:r>
              <a:rPr sz="1200" spc="-25" dirty="0">
                <a:latin typeface="Times New Roman" panose="02020603050405020304"/>
              </a:rPr>
              <a:t>driven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spc="-30" dirty="0">
                <a:latin typeface="Times New Roman" panose="02020603050405020304"/>
              </a:rPr>
              <a:t>mock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</a:rPr>
              <a:t>testing, 	</a:t>
            </a:r>
            <a:r>
              <a:rPr sz="1200" spc="-45" dirty="0">
                <a:latin typeface="Times New Roman" panose="02020603050405020304"/>
              </a:rPr>
              <a:t>automated</a:t>
            </a:r>
            <a:r>
              <a:rPr sz="1200" spc="-10" dirty="0">
                <a:latin typeface="Times New Roman" panose="02020603050405020304"/>
              </a:rPr>
              <a:t> </a:t>
            </a:r>
            <a:r>
              <a:rPr sz="1200" spc="-45" dirty="0">
                <a:latin typeface="Times New Roman" panose="02020603050405020304"/>
              </a:rPr>
              <a:t>scoring,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45" dirty="0">
                <a:latin typeface="Times New Roman" panose="02020603050405020304"/>
              </a:rPr>
              <a:t>real-</a:t>
            </a:r>
            <a:r>
              <a:rPr sz="1200" spc="-20" dirty="0">
                <a:latin typeface="Times New Roman" panose="02020603050405020304"/>
              </a:rPr>
              <a:t>time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50" dirty="0">
                <a:latin typeface="Times New Roman" panose="02020603050405020304"/>
              </a:rPr>
              <a:t>feedback,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60" dirty="0">
                <a:latin typeface="Times New Roman" panose="02020603050405020304"/>
              </a:rPr>
              <a:t>and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45" dirty="0">
                <a:latin typeface="Times New Roman" panose="02020603050405020304"/>
              </a:rPr>
              <a:t>detailed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55" dirty="0">
                <a:latin typeface="Times New Roman" panose="02020603050405020304"/>
              </a:rPr>
              <a:t>performance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45" dirty="0">
                <a:latin typeface="Times New Roman" panose="02020603050405020304"/>
              </a:rPr>
              <a:t>analytics</a:t>
            </a:r>
            <a:r>
              <a:rPr sz="1200" spc="-5" dirty="0">
                <a:latin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</a:rPr>
              <a:t>tailored 	</a:t>
            </a:r>
            <a:r>
              <a:rPr sz="1200" dirty="0">
                <a:latin typeface="Times New Roman" panose="02020603050405020304"/>
              </a:rPr>
              <a:t>to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spc="-40" dirty="0">
                <a:latin typeface="Times New Roman" panose="02020603050405020304"/>
              </a:rPr>
              <a:t>Duolingo</a:t>
            </a:r>
            <a:r>
              <a:rPr sz="1200" spc="-10" dirty="0">
                <a:latin typeface="Times New Roman" panose="02020603050405020304"/>
              </a:rPr>
              <a:t> </a:t>
            </a:r>
            <a:r>
              <a:rPr sz="1200" spc="-50" dirty="0">
                <a:latin typeface="Times New Roman" panose="02020603050405020304"/>
              </a:rPr>
              <a:t>English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spc="-30" dirty="0">
                <a:latin typeface="Times New Roman" panose="02020603050405020304"/>
              </a:rPr>
              <a:t>Test</a:t>
            </a:r>
            <a:r>
              <a:rPr sz="1200" spc="-15" dirty="0">
                <a:latin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</a:rPr>
              <a:t>format.</a:t>
            </a:r>
            <a:endParaRPr sz="1200" spc="-10" dirty="0">
              <a:latin typeface="Times New Roman" panose="02020603050405020304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/>
          <a:p>
            <a:r>
              <a:rPr sz="1400" spc="-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Related/Existing</a:t>
            </a:r>
            <a:r>
              <a:rPr sz="1400" spc="8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1400" spc="-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Works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image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" y="461010"/>
            <a:ext cx="4881880" cy="2435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48789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45" dirty="0">
                <a:latin typeface="Times New Roman" panose="02020603050405020304" charset="0"/>
                <a:cs typeface="Times New Roman" panose="02020603050405020304" charset="0"/>
              </a:rPr>
              <a:t>Proposed</a:t>
            </a:r>
            <a:r>
              <a:rPr sz="1400" spc="-20" dirty="0">
                <a:latin typeface="Times New Roman" panose="02020603050405020304" charset="0"/>
                <a:cs typeface="Times New Roman" panose="02020603050405020304" charset="0"/>
              </a:rPr>
              <a:t> Method</a:t>
            </a:r>
            <a:endParaRPr sz="1400" spc="-2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79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65976" y="346664"/>
            <a:ext cx="4550877" cy="2898869"/>
          </a:xfrm>
          <a:prstGeom prst="rect">
            <a:avLst/>
          </a:prstGeom>
        </p:spPr>
        <p:txBody>
          <a:bodyPr vert="horz" wrap="square" lIns="0" tIns="61594" rIns="0" bIns="0" rtlCol="0" anchor="t">
            <a:spAutoFit/>
          </a:bodyPr>
          <a:lstStyle/>
          <a:p>
            <a:pPr marL="148590" indent="-135890" algn="just">
              <a:lnSpc>
                <a:spcPct val="100000"/>
              </a:lnSpc>
              <a:spcBef>
                <a:spcPts val="48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3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200" b="1" spc="-1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Overview: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350"/>
              </a:spcBef>
              <a:buChar char="•"/>
              <a:tabLst>
                <a:tab pos="425450" algn="l"/>
              </a:tabLst>
            </a:pP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generation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aligned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DET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format.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Timed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instant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scoring.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Grammar,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fluency,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pronunciation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evaluation.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48590" indent="-135890" algn="just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Modules: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indent="-165735" algn="just">
              <a:lnSpc>
                <a:spcPct val="100000"/>
              </a:lnSpc>
              <a:spcBef>
                <a:spcPts val="355"/>
              </a:spcBef>
              <a:buAutoNum type="arabicPeriod"/>
              <a:tabLst>
                <a:tab pos="425450" algn="l"/>
              </a:tabLst>
            </a:pP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Authentication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Profile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Management.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indent="-165735" algn="just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425450" algn="l"/>
              </a:tabLst>
            </a:pP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Skill-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Practice:</a:t>
            </a:r>
            <a:r>
              <a:rPr sz="1200" spc="8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Reading,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Listening,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Writing,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Speaking.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indent="-165735" algn="just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425450" algn="l"/>
              </a:tabLst>
            </a:pP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8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Capture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Evaluation.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indent="-165735" algn="just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425450" algn="l"/>
              </a:tabLst>
            </a:pP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Dashboard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with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feedback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analytics.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48590" indent="-135890" algn="just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1200" b="1" spc="-2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Features: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350"/>
              </a:spcBef>
              <a:buChar char="•"/>
              <a:tabLst>
                <a:tab pos="425450" algn="l"/>
              </a:tabLst>
            </a:pP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Adaptive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difficulty.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Detailed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score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reports.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Personalized</a:t>
            </a:r>
            <a:r>
              <a:rPr sz="1200" spc="4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improvement</a:t>
            </a:r>
            <a:r>
              <a:rPr sz="1200" spc="45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suggestions.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243330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40" dirty="0">
                <a:latin typeface="Times New Roman" panose="02020603050405020304" charset="0"/>
                <a:cs typeface="Times New Roman" panose="02020603050405020304" charset="0"/>
              </a:rPr>
              <a:t>Technical</a:t>
            </a:r>
            <a:r>
              <a:rPr sz="14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40" dirty="0">
                <a:latin typeface="Times New Roman" panose="02020603050405020304" charset="0"/>
                <a:cs typeface="Times New Roman" panose="02020603050405020304" charset="0"/>
              </a:rPr>
              <a:t>Details</a:t>
            </a:r>
            <a:endParaRPr sz="1400" spc="-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3360420" cy="5080"/>
            </a:xfrm>
            <a:custGeom>
              <a:avLst/>
              <a:gdLst/>
              <a:ahLst/>
              <a:cxnLst/>
              <a:rect l="l" t="t" r="r" b="b"/>
              <a:pathLst>
                <a:path w="3360420" h="5079">
                  <a:moveTo>
                    <a:pt x="0" y="5060"/>
                  </a:moveTo>
                  <a:lnTo>
                    <a:pt x="0" y="0"/>
                  </a:lnTo>
                  <a:lnTo>
                    <a:pt x="3360013" y="0"/>
                  </a:lnTo>
                  <a:lnTo>
                    <a:pt x="33600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86283" y="375331"/>
            <a:ext cx="4592955" cy="2836033"/>
          </a:xfrm>
          <a:prstGeom prst="rect">
            <a:avLst/>
          </a:prstGeom>
        </p:spPr>
        <p:txBody>
          <a:bodyPr vert="horz" wrap="square" lIns="0" tIns="80645" rIns="0" bIns="0" rtlCol="0" anchor="t">
            <a:spAutoFit/>
          </a:bodyPr>
          <a:lstStyle/>
          <a:p>
            <a:pPr marL="148590" indent="-135890" algn="just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4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Backend:</a:t>
            </a:r>
            <a:r>
              <a:rPr sz="1200" b="1" spc="8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Flask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(Python).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3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Frontend:</a:t>
            </a:r>
            <a:r>
              <a:rPr sz="1200" b="1" spc="9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React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Js,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Tailwind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CSS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AI</a:t>
            </a:r>
            <a:r>
              <a:rPr sz="1200" b="1" spc="10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&amp;</a:t>
            </a:r>
            <a:r>
              <a:rPr sz="1200" b="1" spc="10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APIs:</a:t>
            </a:r>
            <a:endParaRPr sz="1200">
              <a:latin typeface="Times New Roman" panose="02020603050405020304"/>
              <a:cs typeface="Arial" panose="020B06040202020202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350"/>
              </a:spcBef>
              <a:buChar char="•"/>
              <a:tabLst>
                <a:tab pos="425450" algn="l"/>
              </a:tabLst>
            </a:pP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Azure </a:t>
            </a:r>
            <a:r>
              <a:rPr sz="1200" spc="-7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Speech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Services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voice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analysis.</a:t>
            </a:r>
            <a:endParaRPr sz="1200">
              <a:latin typeface="Times New Roman" panose="02020603050405020304"/>
              <a:cs typeface="Arial MT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OpenAI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8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&amp;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Claude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for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question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generation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generation.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2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Database:</a:t>
            </a:r>
            <a:r>
              <a:rPr sz="1200" b="1" spc="10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MySQL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storing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9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responses,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scores,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feedbacks,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user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details.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Security:</a:t>
            </a:r>
            <a:endParaRPr sz="1200">
              <a:latin typeface="Times New Roman" panose="02020603050405020304"/>
              <a:cs typeface="Arial" panose="020B0604020202020204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350"/>
              </a:spcBef>
              <a:buChar char="•"/>
              <a:tabLst>
                <a:tab pos="425450" algn="l"/>
              </a:tabLst>
            </a:pP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Secure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login</a:t>
            </a:r>
            <a:r>
              <a:rPr sz="1200" spc="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with</a:t>
            </a:r>
            <a:r>
              <a:rPr sz="1200" spc="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password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hashing.</a:t>
            </a:r>
            <a:endParaRPr sz="1200">
              <a:latin typeface="Times New Roman" panose="02020603050405020304"/>
              <a:cs typeface="Arial MT"/>
            </a:endParaRPr>
          </a:p>
          <a:p>
            <a:pPr marL="425450" lvl="1" indent="-130810" algn="just">
              <a:lnSpc>
                <a:spcPct val="100000"/>
              </a:lnSpc>
              <a:spcBef>
                <a:spcPts val="175"/>
              </a:spcBef>
              <a:buChar char="•"/>
              <a:tabLst>
                <a:tab pos="425450" algn="l"/>
              </a:tabLst>
            </a:pP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CSRF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protection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session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validation.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3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Deployment:</a:t>
            </a:r>
            <a:r>
              <a:rPr sz="1200" b="1" spc="4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Hosted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on</a:t>
            </a:r>
            <a:r>
              <a:rPr sz="1200" spc="-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9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AWS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performance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scale.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spcBef>
                <a:spcPts val="535"/>
              </a:spcBef>
              <a:buFont typeface="Arial MT"/>
              <a:buChar char="•"/>
              <a:tabLst>
                <a:tab pos="148590" algn="l"/>
              </a:tabLst>
            </a:pPr>
            <a:r>
              <a:rPr sz="1200" b="1" spc="-3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System</a:t>
            </a: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b="1" spc="-3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Hardware:</a:t>
            </a:r>
            <a:r>
              <a:rPr sz="1200" b="1" spc="5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1200" spc="50" dirty="0">
                <a:solidFill>
                  <a:srgbClr val="22373A"/>
                </a:solidFill>
                <a:latin typeface="Times New Roman" panose="02020603050405020304"/>
                <a:cs typeface="Times New Roman" panose="02020603050405020304"/>
              </a:rPr>
              <a:t>Intel Core i5, 8GB RAM, 500 GB storage, Webcam, Microphone Access</a:t>
            </a:r>
            <a:endParaRPr sz="1200" spc="-50">
              <a:solidFill>
                <a:srgbClr val="22373A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/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Work Flow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145" y="388620"/>
            <a:ext cx="5848350" cy="2896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48789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40" dirty="0">
                <a:latin typeface="Times New Roman" panose="02020603050405020304" charset="0"/>
                <a:cs typeface="Times New Roman" panose="02020603050405020304" charset="0"/>
              </a:rPr>
              <a:t>Pseudo</a:t>
            </a:r>
            <a:r>
              <a:rPr sz="14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45" dirty="0">
                <a:latin typeface="Times New Roman" panose="02020603050405020304" charset="0"/>
                <a:cs typeface="Times New Roman" panose="02020603050405020304" charset="0"/>
              </a:rPr>
              <a:t>Code/Algorithm</a:t>
            </a:r>
            <a:endParaRPr sz="1400" spc="-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3840479" cy="5080"/>
            </a:xfrm>
            <a:custGeom>
              <a:avLst/>
              <a:gdLst/>
              <a:ahLst/>
              <a:cxnLst/>
              <a:rect l="l" t="t" r="r" b="b"/>
              <a:pathLst>
                <a:path w="3840479" h="5079">
                  <a:moveTo>
                    <a:pt x="0" y="5060"/>
                  </a:moveTo>
                  <a:lnTo>
                    <a:pt x="0" y="0"/>
                  </a:lnTo>
                  <a:lnTo>
                    <a:pt x="3840078" y="0"/>
                  </a:lnTo>
                  <a:lnTo>
                    <a:pt x="3840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47294" y="735811"/>
            <a:ext cx="3535045" cy="2014654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200" b="1" spc="-2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Workflow</a:t>
            </a:r>
            <a:r>
              <a:rPr sz="1200" b="1" spc="-5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Overview:</a:t>
            </a:r>
            <a:endParaRPr sz="1200">
              <a:latin typeface="Times New Roman" panose="02020603050405020304"/>
              <a:cs typeface="Arial" panose="020B0604020202020204"/>
            </a:endParaRPr>
          </a:p>
          <a:p>
            <a:pPr marL="287020" indent="-135890" algn="just">
              <a:lnSpc>
                <a:spcPct val="100000"/>
              </a:lnSpc>
              <a:spcBef>
                <a:spcPts val="1080"/>
              </a:spcBef>
              <a:buChar char="•"/>
              <a:tabLst>
                <a:tab pos="287020" algn="l"/>
              </a:tabLst>
            </a:pP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User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logs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in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selects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test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module.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87020" algn="l"/>
              </a:tabLst>
            </a:pP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Randomly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generated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AI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questions.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287020" algn="l"/>
              </a:tabLst>
            </a:pP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User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attempts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the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questions;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responses</a:t>
            </a:r>
            <a:r>
              <a:rPr sz="1200" spc="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recorded.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87020" algn="l"/>
              </a:tabLst>
            </a:pPr>
            <a:r>
              <a:rPr sz="1200" spc="-7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System</a:t>
            </a:r>
            <a:r>
              <a:rPr sz="1200" spc="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analyzes</a:t>
            </a:r>
            <a:r>
              <a:rPr sz="1200" spc="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responses</a:t>
            </a:r>
            <a:r>
              <a:rPr sz="1200" spc="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using</a:t>
            </a:r>
            <a:r>
              <a:rPr sz="1200" spc="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AI</a:t>
            </a:r>
            <a:r>
              <a:rPr sz="1200" spc="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models.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287020" algn="l"/>
              </a:tabLst>
            </a:pPr>
            <a:r>
              <a:rPr sz="1200" spc="-8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9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scores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shown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on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the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dashboard.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287020" algn="l"/>
              </a:tabLst>
            </a:pP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Proficiency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metrics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navigation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to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comparison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pages.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87020" algn="l"/>
              </a:tabLst>
            </a:pP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Detailed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analysis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of</a:t>
            </a:r>
            <a:r>
              <a:rPr sz="1200" spc="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correct/incorrect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questions.</a:t>
            </a:r>
            <a:endParaRPr sz="1200">
              <a:latin typeface="Times New Roman" panose="02020603050405020304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ALGORITHM</a:t>
            </a:r>
            <a:endParaRPr lang="en-US" sz="1400" dirty="0">
              <a:latin typeface="Times New Roman" panose="02020603050405020304" charset="0"/>
              <a:ea typeface="Tahoma" panose="020B0604030504040204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63" y="462493"/>
            <a:ext cx="5408073" cy="31393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latin typeface="Times New Roman" panose="02020603050405020304"/>
              </a:rPr>
              <a:t>def </a:t>
            </a:r>
            <a:r>
              <a:rPr lang="en-US" sz="1200" err="1">
                <a:latin typeface="Times New Roman" panose="02020603050405020304"/>
              </a:rPr>
              <a:t>duolingo_mock_test</a:t>
            </a:r>
            <a:r>
              <a:rPr lang="en-US" sz="1200" dirty="0">
                <a:latin typeface="Times New Roman" panose="02020603050405020304"/>
              </a:rPr>
              <a:t>():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 user = </a:t>
            </a:r>
            <a:r>
              <a:rPr lang="en-US" sz="1200" err="1">
                <a:latin typeface="Times New Roman" panose="02020603050405020304"/>
              </a:rPr>
              <a:t>authenticate_user</a:t>
            </a:r>
            <a:r>
              <a:rPr lang="en-US" sz="1200" dirty="0">
                <a:latin typeface="Times New Roman" panose="02020603050405020304"/>
              </a:rPr>
              <a:t>(credentials)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 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 if user: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 </a:t>
            </a:r>
            <a:r>
              <a:rPr lang="en-US" sz="1200" err="1">
                <a:latin typeface="Times New Roman" panose="02020603050405020304"/>
              </a:rPr>
              <a:t>setup_environment</a:t>
            </a:r>
            <a:r>
              <a:rPr lang="en-US" sz="1200" dirty="0">
                <a:latin typeface="Times New Roman" panose="02020603050405020304"/>
              </a:rPr>
              <a:t>(</a:t>
            </a:r>
            <a:r>
              <a:rPr lang="en-US" sz="1200" err="1">
                <a:latin typeface="Times New Roman" panose="02020603050405020304"/>
              </a:rPr>
              <a:t>mic_check</a:t>
            </a:r>
            <a:r>
              <a:rPr lang="en-US" sz="1200" dirty="0">
                <a:latin typeface="Times New Roman" panose="02020603050405020304"/>
              </a:rPr>
              <a:t>=True, </a:t>
            </a:r>
            <a:r>
              <a:rPr lang="en-US" sz="1200" err="1">
                <a:latin typeface="Times New Roman" panose="02020603050405020304"/>
              </a:rPr>
              <a:t>speaker_check</a:t>
            </a:r>
            <a:r>
              <a:rPr lang="en-US" sz="1200" dirty="0">
                <a:latin typeface="Times New Roman" panose="02020603050405020304"/>
              </a:rPr>
              <a:t>=True)</a:t>
            </a:r>
            <a:endParaRPr lang="en-US" sz="1200" dirty="0">
              <a:latin typeface="Times New Roman" panose="02020603050405020304"/>
            </a:endParaRPr>
          </a:p>
          <a:p>
            <a:pPr algn="l"/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 # Full Test Flow - Adaptive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 modules = ['Reading', 'Listening', 'Speaking', 'Writing']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 results = {}</a:t>
            </a:r>
            <a:endParaRPr lang="en-US" sz="1200" dirty="0">
              <a:latin typeface="Times New Roman" panose="02020603050405020304"/>
            </a:endParaRPr>
          </a:p>
          <a:p>
            <a:pPr algn="l"/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 for module in modules: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     questions = </a:t>
            </a:r>
            <a:r>
              <a:rPr lang="en-US" sz="1200" err="1">
                <a:latin typeface="Times New Roman" panose="02020603050405020304"/>
              </a:rPr>
              <a:t>generate_adaptive_questions</a:t>
            </a:r>
            <a:r>
              <a:rPr lang="en-US" sz="1200" dirty="0">
                <a:latin typeface="Times New Roman" panose="02020603050405020304"/>
              </a:rPr>
              <a:t>(module, </a:t>
            </a:r>
            <a:r>
              <a:rPr lang="en-US" sz="1200" err="1">
                <a:latin typeface="Times New Roman" panose="02020603050405020304"/>
              </a:rPr>
              <a:t>user_profile</a:t>
            </a:r>
            <a:r>
              <a:rPr lang="en-US" sz="1200" dirty="0">
                <a:latin typeface="Times New Roman" panose="02020603050405020304"/>
              </a:rPr>
              <a:t>)</a:t>
            </a:r>
            <a:endParaRPr lang="en-US" sz="1200" dirty="0">
              <a:latin typeface="Times New Roman" panose="02020603050405020304"/>
            </a:endParaRPr>
          </a:p>
          <a:p>
            <a:pPr algn="l"/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     for question in questions: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         if module == 'Speaking':</a:t>
            </a:r>
            <a:endParaRPr lang="en-US" sz="1200" dirty="0">
              <a:latin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</a:rPr>
              <a:t>                   </a:t>
            </a:r>
            <a:endParaRPr lang="en-US" sz="1200" dirty="0">
              <a:latin typeface="Times New Roman" panose="02020603050405020304"/>
            </a:endParaRPr>
          </a:p>
          <a:p>
            <a:pPr algn="l"/>
            <a:endParaRPr lang="en-US" sz="1200" dirty="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ALGORITHM</a:t>
            </a:r>
            <a:endParaRPr lang="en-US" sz="1400" dirty="0">
              <a:latin typeface="Times New Roman" panose="02020603050405020304" charset="0"/>
              <a:ea typeface="Tahoma" panose="020B0604030504040204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5363" y="503126"/>
            <a:ext cx="4911725" cy="295465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       response = </a:t>
            </a:r>
            <a:r>
              <a:rPr lang="en-US" sz="1200" dirty="0" err="1">
                <a:latin typeface="Times New Roman" panose="02020603050405020304"/>
                <a:cs typeface="Times New Roman" panose="02020603050405020304"/>
              </a:rPr>
              <a:t>record_audio_response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()</a:t>
            </a:r>
            <a:endParaRPr lang="en-US" dirty="0"/>
          </a:p>
          <a:p>
            <a:pPr algn="l"/>
            <a:r>
              <a:rPr lang="en-US" sz="1200" dirty="0" err="1">
                <a:latin typeface="Times New Roman" panose="02020603050405020304"/>
                <a:cs typeface="Segoe UI" panose="020B0502040204020203"/>
              </a:rPr>
              <a:t>elif</a:t>
            </a:r>
            <a:r>
              <a:rPr lang="en-US" sz="1200" dirty="0">
                <a:latin typeface="Times New Roman" panose="02020603050405020304"/>
                <a:cs typeface="Segoe UI" panose="020B0502040204020203"/>
              </a:rPr>
              <a:t> module == 'Writing':</a:t>
            </a:r>
            <a:endParaRPr lang="en-US" sz="120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        response = </a:t>
            </a:r>
            <a:r>
              <a:rPr lang="en-US" sz="1200" dirty="0" err="1">
                <a:latin typeface="Times New Roman" panose="02020603050405020304"/>
                <a:cs typeface="Times New Roman" panose="02020603050405020304"/>
              </a:rPr>
              <a:t>record_written_response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()</a:t>
            </a:r>
            <a:endParaRPr lang="en-US" sz="120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else:</a:t>
            </a:r>
            <a:endParaRPr lang="en-US" sz="1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1200" dirty="0">
                <a:latin typeface="Times New Roman" panose="02020603050405020304"/>
                <a:cs typeface="Segoe UI" panose="020B0502040204020203"/>
              </a:rPr>
              <a:t>       response = </a:t>
            </a:r>
            <a:r>
              <a:rPr lang="en-US" sz="1200" dirty="0" err="1">
                <a:latin typeface="Times New Roman" panose="02020603050405020304"/>
                <a:cs typeface="Segoe UI" panose="020B0502040204020203"/>
              </a:rPr>
              <a:t>capture_mcq_or_input</a:t>
            </a:r>
            <a:r>
              <a:rPr lang="en-US" sz="1200" dirty="0">
                <a:latin typeface="Times New Roman" panose="02020603050405020304"/>
                <a:cs typeface="Segoe UI" panose="020B0502040204020203"/>
              </a:rPr>
              <a:t>()</a:t>
            </a:r>
            <a:endParaRPr lang="en-US" sz="120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endParaRPr lang="en-US" sz="1200" dirty="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r>
              <a:rPr lang="en-US" sz="1200" dirty="0">
                <a:latin typeface="Times New Roman" panose="02020603050405020304"/>
                <a:cs typeface="Segoe UI" panose="020B0502040204020203"/>
              </a:rPr>
              <a:t>       feedback = </a:t>
            </a:r>
            <a:r>
              <a:rPr lang="en-US" sz="1200" dirty="0" err="1">
                <a:latin typeface="Times New Roman" panose="02020603050405020304"/>
                <a:cs typeface="Segoe UI" panose="020B0502040204020203"/>
              </a:rPr>
              <a:t>evaluate_response</a:t>
            </a:r>
            <a:r>
              <a:rPr lang="en-US" sz="1200" dirty="0">
                <a:latin typeface="Times New Roman" panose="02020603050405020304"/>
                <a:cs typeface="Segoe UI" panose="020B0502040204020203"/>
              </a:rPr>
              <a:t>(module, response)</a:t>
            </a:r>
            <a:endParaRPr lang="en-US" sz="120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r>
              <a:rPr lang="en-US" sz="1200" dirty="0">
                <a:latin typeface="Times New Roman" panose="02020603050405020304"/>
                <a:cs typeface="Segoe UI" panose="020B0502040204020203"/>
              </a:rPr>
              <a:t>       </a:t>
            </a:r>
            <a:r>
              <a:rPr lang="en-US" sz="1200" dirty="0" err="1">
                <a:latin typeface="Times New Roman" panose="02020603050405020304"/>
                <a:cs typeface="Segoe UI" panose="020B0502040204020203"/>
              </a:rPr>
              <a:t>store_result</a:t>
            </a:r>
            <a:r>
              <a:rPr lang="en-US" sz="1200" dirty="0">
                <a:latin typeface="Times New Roman" panose="02020603050405020304"/>
                <a:cs typeface="Segoe UI" panose="020B0502040204020203"/>
              </a:rPr>
              <a:t>(user.id, module, response, feedback)</a:t>
            </a:r>
            <a:endParaRPr lang="en-US" sz="1200" dirty="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endParaRPr lang="en-US" sz="1200" dirty="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r>
              <a:rPr lang="en-US" sz="1200" dirty="0">
                <a:latin typeface="Times New Roman" panose="02020603050405020304"/>
                <a:cs typeface="Segoe UI" panose="020B0502040204020203"/>
              </a:rPr>
              <a:t>results[module] = </a:t>
            </a:r>
            <a:r>
              <a:rPr lang="en-US" sz="1200" dirty="0" err="1">
                <a:latin typeface="Times New Roman" panose="02020603050405020304"/>
                <a:cs typeface="Segoe UI" panose="020B0502040204020203"/>
              </a:rPr>
              <a:t>summarize_module_score</a:t>
            </a:r>
            <a:r>
              <a:rPr lang="en-US" sz="1200" dirty="0">
                <a:latin typeface="Times New Roman" panose="02020603050405020304"/>
                <a:cs typeface="Segoe UI" panose="020B0502040204020203"/>
              </a:rPr>
              <a:t>(module, user.id)</a:t>
            </a:r>
            <a:endParaRPr lang="en-US" sz="120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endParaRPr lang="en-US" sz="1200" dirty="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r>
              <a:rPr lang="en-US" sz="1200" dirty="0">
                <a:latin typeface="Times New Roman" panose="02020603050405020304"/>
                <a:cs typeface="Segoe UI" panose="020B0502040204020203"/>
              </a:rPr>
              <a:t># After test completion</a:t>
            </a:r>
            <a:endParaRPr lang="en-US" sz="1200" dirty="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r>
              <a:rPr lang="en-US" sz="1200" dirty="0" err="1">
                <a:latin typeface="Times New Roman" panose="02020603050405020304"/>
                <a:cs typeface="Segoe UI" panose="020B0502040204020203"/>
              </a:rPr>
              <a:t>generate_performance_report</a:t>
            </a:r>
            <a:r>
              <a:rPr lang="en-US" sz="1200" dirty="0">
                <a:latin typeface="Times New Roman" panose="02020603050405020304"/>
                <a:cs typeface="Segoe UI" panose="020B0502040204020203"/>
              </a:rPr>
              <a:t>(user.id, results)</a:t>
            </a:r>
            <a:endParaRPr lang="en-US" sz="1200" dirty="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pPr algn="l"/>
            <a:r>
              <a:rPr lang="en-US" sz="1200" dirty="0" err="1">
                <a:latin typeface="Times New Roman" panose="02020603050405020304"/>
                <a:cs typeface="Segoe UI" panose="020B0502040204020203"/>
              </a:rPr>
              <a:t>show_dashboard</a:t>
            </a:r>
            <a:r>
              <a:rPr lang="en-US" sz="1200" dirty="0">
                <a:latin typeface="Times New Roman" panose="02020603050405020304"/>
                <a:cs typeface="Segoe UI" panose="020B0502040204020203"/>
              </a:rPr>
              <a:t>(user.id)</a:t>
            </a:r>
            <a:endParaRPr lang="en-US" sz="1200" dirty="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endParaRPr lang="en-US" sz="1200" dirty="0">
              <a:solidFill>
                <a:srgbClr val="000000"/>
              </a:solidFill>
              <a:latin typeface="Times New Roman" panose="02020603050405020304"/>
              <a:cs typeface="Segoe UI" panose="020B0502040204020203"/>
            </a:endParaRPr>
          </a:p>
          <a:p>
            <a:endParaRPr lang="en-US" sz="1200" dirty="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48789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60" dirty="0">
                <a:latin typeface="Times New Roman" panose="02020603050405020304" charset="0"/>
                <a:cs typeface="Times New Roman" panose="02020603050405020304" charset="0"/>
              </a:rPr>
              <a:t>Initial</a:t>
            </a:r>
            <a:r>
              <a:rPr sz="1400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60" dirty="0">
                <a:latin typeface="Times New Roman" panose="02020603050405020304" charset="0"/>
                <a:cs typeface="Times New Roman" panose="02020603050405020304" charset="0"/>
              </a:rPr>
              <a:t>Results</a:t>
            </a:r>
            <a:endParaRPr sz="1400" spc="-6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4320540" cy="5080"/>
            </a:xfrm>
            <a:custGeom>
              <a:avLst/>
              <a:gdLst/>
              <a:ahLst/>
              <a:cxnLst/>
              <a:rect l="l" t="t" r="r" b="b"/>
              <a:pathLst>
                <a:path w="4320540" h="5079">
                  <a:moveTo>
                    <a:pt x="0" y="5060"/>
                  </a:moveTo>
                  <a:lnTo>
                    <a:pt x="0" y="0"/>
                  </a:lnTo>
                  <a:lnTo>
                    <a:pt x="4320055" y="0"/>
                  </a:lnTo>
                  <a:lnTo>
                    <a:pt x="4320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47294" y="903729"/>
            <a:ext cx="4926330" cy="1663917"/>
          </a:xfrm>
          <a:prstGeom prst="rect">
            <a:avLst/>
          </a:prstGeom>
        </p:spPr>
        <p:txBody>
          <a:bodyPr vert="horz" wrap="square" lIns="0" tIns="80645" rIns="0" bIns="0" rtlCol="0" anchor="t">
            <a:spAutoFit/>
          </a:bodyPr>
          <a:lstStyle/>
          <a:p>
            <a:pPr marL="287020" indent="-135890" algn="just">
              <a:lnSpc>
                <a:spcPct val="100000"/>
              </a:lnSpc>
              <a:spcBef>
                <a:spcPts val="635"/>
              </a:spcBef>
              <a:buChar char="•"/>
              <a:tabLst>
                <a:tab pos="287020" algn="l"/>
              </a:tabLst>
            </a:pP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Functional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modules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reading,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listening,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speaking,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writing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tests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completed.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87020" algn="l"/>
              </a:tabLst>
            </a:pP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Positive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</a:t>
            </a:r>
            <a:r>
              <a:rPr sz="1200" spc="-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from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beta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9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users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on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experience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accuracy.</a:t>
            </a:r>
            <a:endParaRPr sz="1200">
              <a:latin typeface="Times New Roman" panose="02020603050405020304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080"/>
              </a:spcBef>
            </a:pPr>
            <a:r>
              <a:rPr sz="1200" b="1" spc="-10" dirty="0">
                <a:solidFill>
                  <a:srgbClr val="22373A"/>
                </a:solidFill>
                <a:latin typeface="Times New Roman" panose="02020603050405020304"/>
                <a:cs typeface="Arial" panose="020B0604020202020204"/>
              </a:rPr>
              <a:t>Screenshots:</a:t>
            </a:r>
            <a:endParaRPr sz="1200">
              <a:latin typeface="Times New Roman" panose="02020603050405020304"/>
              <a:cs typeface="Arial" panose="020B0604020202020204"/>
            </a:endParaRPr>
          </a:p>
          <a:p>
            <a:pPr marL="287020" indent="-135890" algn="just">
              <a:lnSpc>
                <a:spcPct val="100000"/>
              </a:lnSpc>
              <a:spcBef>
                <a:spcPts val="1085"/>
              </a:spcBef>
              <a:buChar char="•"/>
              <a:tabLst>
                <a:tab pos="287020" algn="l"/>
              </a:tabLst>
            </a:pP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landing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page.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287020" algn="l"/>
              </a:tabLst>
            </a:pPr>
            <a:r>
              <a:rPr sz="1200" spc="-7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Speaking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module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with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timer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recording.</a:t>
            </a:r>
            <a:endParaRPr sz="1200">
              <a:latin typeface="Times New Roman" panose="02020603050405020304"/>
              <a:cs typeface="Arial MT"/>
            </a:endParaRPr>
          </a:p>
          <a:p>
            <a:pPr marL="28702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87020" algn="l"/>
              </a:tabLst>
            </a:pP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Result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dashboard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with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score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breakdown.</a:t>
            </a:r>
            <a:endParaRPr sz="1200">
              <a:latin typeface="Times New Roman" panose="02020603050405020304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LOGIN PAGE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600" y="501631"/>
            <a:ext cx="5277056" cy="24848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DASHBOARD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34" y="461209"/>
            <a:ext cx="4693828" cy="26398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HISTORY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600" y="460354"/>
            <a:ext cx="5277056" cy="24385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18415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FULL TEST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039" y="453738"/>
            <a:ext cx="4732716" cy="26398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FEEDBACK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165" y="467283"/>
            <a:ext cx="4748224" cy="26330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PRACTICE 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13" y="481160"/>
            <a:ext cx="4632635" cy="26126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PROFICIENCY</a:t>
            </a:r>
            <a:endParaRPr lang="en-US" sz="1400" dirty="0">
              <a:latin typeface="Times New Roman" panose="02020603050405020304" charset="0"/>
              <a:ea typeface="Tahoma" panose="020B0604030504040204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86" y="488084"/>
            <a:ext cx="4727825" cy="26738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ea typeface="Tahoma" panose="020B0604030504040204"/>
                <a:cs typeface="Times New Roman" panose="02020603050405020304" charset="0"/>
              </a:rPr>
              <a:t>COMPARISION</a:t>
            </a:r>
            <a:endParaRPr lang="en-US" sz="1400" dirty="0">
              <a:latin typeface="Times New Roman" panose="02020603050405020304" charset="0"/>
              <a:ea typeface="Tahoma" panose="020B0604030504040204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937" y="481678"/>
            <a:ext cx="4612237" cy="26262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48789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5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sz="1400" spc="-5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4800600" cy="5080"/>
            </a:xfrm>
            <a:custGeom>
              <a:avLst/>
              <a:gdLst/>
              <a:ahLst/>
              <a:cxnLst/>
              <a:rect l="l" t="t" r="r" b="b"/>
              <a:pathLst>
                <a:path w="4800600" h="5079">
                  <a:moveTo>
                    <a:pt x="0" y="5060"/>
                  </a:moveTo>
                  <a:lnTo>
                    <a:pt x="0" y="0"/>
                  </a:lnTo>
                  <a:lnTo>
                    <a:pt x="4800032" y="0"/>
                  </a:lnTo>
                  <a:lnTo>
                    <a:pt x="48000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86283" y="1313304"/>
            <a:ext cx="4654550" cy="763671"/>
          </a:xfrm>
          <a:prstGeom prst="rect">
            <a:avLst/>
          </a:prstGeom>
        </p:spPr>
        <p:txBody>
          <a:bodyPr vert="horz" wrap="square" lIns="0" tIns="80645" rIns="0" bIns="0" rtlCol="0" anchor="t">
            <a:spAutoFit/>
          </a:bodyPr>
          <a:lstStyle/>
          <a:p>
            <a:pPr marL="148590" indent="-135890" algn="just">
              <a:lnSpc>
                <a:spcPct val="100000"/>
              </a:lnSpc>
              <a:spcBef>
                <a:spcPts val="635"/>
              </a:spcBef>
              <a:buChar char="•"/>
              <a:tabLst>
                <a:tab pos="148590" algn="l"/>
              </a:tabLst>
            </a:pP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smart,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user-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friendly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platform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DET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preparation.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148590" algn="l"/>
              </a:tabLst>
            </a:pP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AI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integration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9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enables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accurate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scoring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actionable</a:t>
            </a:r>
            <a:r>
              <a:rPr sz="1200" spc="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148590" algn="l"/>
              </a:tabLst>
            </a:pP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The </a:t>
            </a: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system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9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empowers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9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users</a:t>
            </a:r>
            <a:r>
              <a:rPr sz="1200" spc="1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with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confidence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better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preparation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strategies.</a:t>
            </a:r>
            <a:endParaRPr sz="1200">
              <a:latin typeface="Times New Roman" panose="02020603050405020304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555" y="76200"/>
            <a:ext cx="1319530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spc="-50" dirty="0">
                <a:latin typeface="Times New Roman" panose="02020603050405020304" charset="0"/>
                <a:cs typeface="Times New Roman" panose="02020603050405020304" charset="0"/>
              </a:rPr>
              <a:t>Future Scope</a:t>
            </a:r>
            <a:endParaRPr lang="en-US" sz="1400" spc="-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6283" y="1077465"/>
            <a:ext cx="4269740" cy="1261243"/>
          </a:xfrm>
          <a:prstGeom prst="rect">
            <a:avLst/>
          </a:prstGeom>
        </p:spPr>
        <p:txBody>
          <a:bodyPr vert="horz" wrap="square" lIns="0" tIns="80645" rIns="0" bIns="0" rtlCol="0" anchor="t">
            <a:spAutoFit/>
          </a:bodyPr>
          <a:lstStyle/>
          <a:p>
            <a:pPr marL="148590" indent="-135890" algn="just">
              <a:lnSpc>
                <a:spcPct val="100000"/>
              </a:lnSpc>
              <a:spcBef>
                <a:spcPts val="635"/>
              </a:spcBef>
              <a:buChar char="•"/>
              <a:tabLst>
                <a:tab pos="148590" algn="l"/>
              </a:tabLst>
            </a:pP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Implement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support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offline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testing.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148590" algn="l"/>
              </a:tabLst>
            </a:pP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Add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peer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review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community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scoring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features.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148590" algn="l"/>
              </a:tabLst>
            </a:pP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Visual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6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feedback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for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facial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8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expressions</a:t>
            </a:r>
            <a:r>
              <a:rPr sz="1200" spc="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eye</a:t>
            </a:r>
            <a:r>
              <a:rPr sz="1200" spc="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contact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in </a:t>
            </a:r>
            <a:r>
              <a:rPr sz="1200" spc="-7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speaking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tests.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148590" algn="l"/>
              </a:tabLst>
            </a:pPr>
            <a:r>
              <a:rPr sz="1200" spc="-3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Integration</a:t>
            </a:r>
            <a:r>
              <a:rPr sz="1200" spc="-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with </a:t>
            </a:r>
            <a:r>
              <a:rPr sz="1200" spc="-4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learning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platforms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for </a:t>
            </a:r>
            <a:r>
              <a:rPr sz="1200" spc="-6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personalized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study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plans.</a:t>
            </a:r>
            <a:endParaRPr sz="1200">
              <a:latin typeface="Times New Roman" panose="02020603050405020304"/>
              <a:cs typeface="Arial MT"/>
            </a:endParaRPr>
          </a:p>
          <a:p>
            <a:pPr marL="148590" indent="-135890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148590" algn="l"/>
              </a:tabLst>
            </a:pPr>
            <a:r>
              <a:rPr sz="1200" spc="-7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Expand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to </a:t>
            </a:r>
            <a:r>
              <a:rPr sz="1200" spc="-3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support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TOEFL,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PTE,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and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other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5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English</a:t>
            </a:r>
            <a:r>
              <a:rPr sz="1200" spc="5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proficiency</a:t>
            </a:r>
            <a:r>
              <a:rPr sz="120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Times New Roman" panose="02020603050405020304"/>
                <a:cs typeface="Arial MT"/>
              </a:rPr>
              <a:t>tests.</a:t>
            </a:r>
            <a:endParaRPr sz="1200">
              <a:latin typeface="Times New Roman" panose="02020603050405020304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/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Future Scope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708025"/>
            <a:ext cx="5031740" cy="22688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748789" cy="22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75" dirty="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sz="1400" spc="-7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86410" y="454660"/>
            <a:ext cx="4911725" cy="2772410"/>
          </a:xfrm>
          <a:prstGeom prst="rect">
            <a:avLst/>
          </a:prstGeom>
        </p:spPr>
        <p:txBody>
          <a:bodyPr vert="horz" wrap="square" lIns="0" tIns="405590" rIns="0" bIns="0" rtlCol="0" anchor="t">
            <a:noAutofit/>
          </a:bodyPr>
          <a:lstStyle/>
          <a:p>
            <a:pPr marL="12065" marR="5080" indent="0" algn="just">
              <a:lnSpc>
                <a:spcPct val="118000"/>
              </a:lnSpc>
              <a:spcBef>
                <a:spcPts val="100"/>
              </a:spcBef>
              <a:buNone/>
              <a:tabLst>
                <a:tab pos="150495" algn="l"/>
              </a:tabLst>
            </a:pPr>
            <a:r>
              <a:rPr lang="en-US" altLang="en-US" sz="1200" spc="-10" dirty="0">
                <a:latin typeface="Times New Roman" panose="02020603050405020304"/>
              </a:rPr>
              <a:t>[1] Mehta, P., Kumar, A., and Bhattacharjee, S., "Fire and gun violence based anomaly detection system using deep neural networks," in Proc. Int. Conf. on Electronics and Sustainable Communication Systems (ICESC), IEEE, pp. 199-204, Jul. 2020.</a:t>
            </a:r>
            <a:endParaRPr lang="en-US" altLang="en-US" sz="1200" spc="-10" dirty="0">
              <a:latin typeface="Times New Roman" panose="02020603050405020304"/>
            </a:endParaRPr>
          </a:p>
          <a:p>
            <a:pPr marL="12065" marR="5080" indent="0" algn="just">
              <a:lnSpc>
                <a:spcPct val="118000"/>
              </a:lnSpc>
              <a:spcBef>
                <a:spcPts val="100"/>
              </a:spcBef>
              <a:buNone/>
              <a:tabLst>
                <a:tab pos="150495" algn="l"/>
              </a:tabLst>
            </a:pPr>
            <a:endParaRPr lang="en-US" altLang="en-US" sz="1200" spc="-10" dirty="0">
              <a:latin typeface="Times New Roman" panose="02020603050405020304"/>
            </a:endParaRPr>
          </a:p>
          <a:p>
            <a:pPr marL="12065" marR="5080" indent="0" algn="just">
              <a:lnSpc>
                <a:spcPct val="118000"/>
              </a:lnSpc>
              <a:spcBef>
                <a:spcPts val="100"/>
              </a:spcBef>
              <a:buNone/>
              <a:tabLst>
                <a:tab pos="150495" algn="l"/>
              </a:tabLst>
            </a:pPr>
            <a:r>
              <a:rPr lang="en-US" altLang="en-US" sz="1200" spc="-10" dirty="0">
                <a:latin typeface="Times New Roman" panose="02020603050405020304"/>
              </a:rPr>
              <a:t>[2] Tiwari, R.K., and Verma, G.K., ”A computer vision based framework for visual gun detection using Harris interest point detector,” Procedia Computer Science, vol. 54, pp.703-712, 2015.</a:t>
            </a:r>
            <a:endParaRPr lang="en-US" altLang="en-US" sz="1200" spc="-10" dirty="0">
              <a:latin typeface="Times New Roman" panose="02020603050405020304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0" y="76349"/>
            <a:ext cx="1748789" cy="215265"/>
          </a:xfrm>
        </p:spPr>
        <p:txBody>
          <a:bodyPr/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10" y="586105"/>
            <a:ext cx="4911725" cy="2658745"/>
          </a:xfrm>
        </p:spPr>
        <p:txBody>
          <a:bodyPr>
            <a:noAutofit/>
          </a:bodyPr>
          <a:p>
            <a:pPr algn="just"/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[3] Krizhevsky, A., Sutskever, I., and Hinton, G.E., ”ImageNet classification with deep convolutional neural networks,” Advances in Neural Information Processing Systems, vol. 25,pp. 1097-1105, 2012.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[4] Duolingo English Test, ”Official Test Guidelines,” Duolingo English Test Documentation,2023. [Online]. Available: https://englishtest.duolingo.com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[5] Brown, T., Mann, B., Ryder, N., et al., ”Language models for adaptive testing,” Journal of Educational Technology, vol. 45, no. 2, pp. 112-130, 2020.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[6] Microsoft Azure, ”Speech to Text API Documentation,” Microsoft Developer Network, 2023. [Online]. Available: https://docs.microsoft.com/azure/cognitive-services.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2008" y="1617942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dirty="0">
                <a:latin typeface="Times New Roman" panose="02020603050405020304"/>
                <a:cs typeface="Times New Roman" panose="02020603050405020304"/>
              </a:rPr>
              <a:t>THANK YOU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5799</Words>
  <Application>WPS Slides</Application>
  <PresentationFormat>Custom</PresentationFormat>
  <Paragraphs>192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SimSun</vt:lpstr>
      <vt:lpstr>Wingdings</vt:lpstr>
      <vt:lpstr>Tahoma</vt:lpstr>
      <vt:lpstr>Arial MT</vt:lpstr>
      <vt:lpstr>Times New Roman</vt:lpstr>
      <vt:lpstr>Times New Roman</vt:lpstr>
      <vt:lpstr>Arial</vt:lpstr>
      <vt:lpstr>Microsoft YaHei</vt:lpstr>
      <vt:lpstr>Arial Unicode MS</vt:lpstr>
      <vt:lpstr>Calibri</vt:lpstr>
      <vt:lpstr>Segoe UI</vt:lpstr>
      <vt:lpstr>Office Theme</vt:lpstr>
      <vt:lpstr>Duolingo Mock Test System</vt:lpstr>
      <vt:lpstr>Table of Contents</vt:lpstr>
      <vt:lpstr>Abstract</vt:lpstr>
      <vt:lpstr>Introduction</vt:lpstr>
      <vt:lpstr>Related/Existing Works</vt:lpstr>
      <vt:lpstr>Related/Existing Works</vt:lpstr>
      <vt:lpstr>Proposed Method</vt:lpstr>
      <vt:lpstr>Technical Details</vt:lpstr>
      <vt:lpstr>Work Flow</vt:lpstr>
      <vt:lpstr>Pseudo Code/Algorithm</vt:lpstr>
      <vt:lpstr>ALGORITHM</vt:lpstr>
      <vt:lpstr>ALGORITHM</vt:lpstr>
      <vt:lpstr>Initial Results</vt:lpstr>
      <vt:lpstr>LOGIN PAGE</vt:lpstr>
      <vt:lpstr>DASHBOARD</vt:lpstr>
      <vt:lpstr>HISTORY</vt:lpstr>
      <vt:lpstr>FULL TEST</vt:lpstr>
      <vt:lpstr>FEEDBACK</vt:lpstr>
      <vt:lpstr>PRACTICE </vt:lpstr>
      <vt:lpstr>PROFICIENCY</vt:lpstr>
      <vt:lpstr>COMPARISION</vt:lpstr>
      <vt:lpstr>Conclusion</vt:lpstr>
      <vt:lpstr>Future Scope</vt:lpstr>
      <vt:lpstr>Future Scope</vt:lpstr>
      <vt:lpstr>References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Duolingo Mock Test System - An AI-Powered Platform for English Test Preparation</dc:title>
  <dc:creator>Guntupalli Greeshma (N191073), Shaik Mansur (N190472)</dc:creator>
  <cp:lastModifiedBy>Donakonda Poleswari</cp:lastModifiedBy>
  <cp:revision>178</cp:revision>
  <dcterms:created xsi:type="dcterms:W3CDTF">2025-04-22T09:03:00Z</dcterms:created>
  <dcterms:modified xsi:type="dcterms:W3CDTF">2025-04-29T10:56:27Z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2025-04-21T11:00:00Z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2025-04-22T11:00:00Z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  <property fmtid="{D5CDD505-2E9C-101B-9397-08002B2CF9AE}" pid="7" name="ICV">
    <vt:lpwstr>34C515180F5541BDAE1D90FBF6D30818_12</vt:lpwstr>
  </property>
  <property fmtid="{D5CDD505-2E9C-101B-9397-08002B2CF9AE}" pid="8" name="KSOProductBuildVer">
    <vt:lpwstr>1033-12.2.0.20795</vt:lpwstr>
  </property>
</Properties>
</file>